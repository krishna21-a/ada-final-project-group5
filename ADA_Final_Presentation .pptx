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3"/>
  </p:sldMasterIdLst>
  <p:notesMasterIdLst>
    <p:notesMasterId r:id="rId12"/>
  </p:notesMasterIdLst>
  <p:sldIdLst>
    <p:sldId id="257" r:id="rId4"/>
    <p:sldId id="258" r:id="rId5"/>
    <p:sldId id="259" r:id="rId6"/>
    <p:sldId id="260" r:id="rId7"/>
    <p:sldId id="280" r:id="rId8"/>
    <p:sldId id="263" r:id="rId9"/>
    <p:sldId id="264" r:id="rId10"/>
    <p:sldId id="265" r:id="rId11"/>
    <p:sldId id="267" r:id="rId13"/>
    <p:sldId id="270" r:id="rId14"/>
    <p:sldId id="268" r:id="rId15"/>
    <p:sldId id="269" r:id="rId16"/>
    <p:sldId id="281" r:id="rId17"/>
    <p:sldId id="282" r:id="rId18"/>
    <p:sldId id="287" r:id="rId19"/>
    <p:sldId id="288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87"/>
    <a:srgbClr val="00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>
        <p:scale>
          <a:sx n="93" d="100"/>
          <a:sy n="93" d="100"/>
        </p:scale>
        <p:origin x="2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61CE4-BB05-4965-A55C-E9732BCBAF42}" type="datetimeFigureOut">
              <a:rPr lang="en-CA" smtClean="0"/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AF780-8423-4125-BD97-E6FF2D5825A1}" type="slidenum">
              <a:rPr lang="en-CA" smtClean="0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4225"/>
            <a:ext cx="9156700" cy="5873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1567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3159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00B1E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OPTIONAL SECTION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-58738"/>
            <a:ext cx="5840412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49462"/>
            <a:ext cx="5065712" cy="438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49462"/>
            <a:ext cx="393223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4225"/>
            <a:ext cx="9156700" cy="5873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1567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3159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00B1E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OPTIONAL SECTION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-58738"/>
            <a:ext cx="5840412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49462"/>
            <a:ext cx="5065712" cy="438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49462"/>
            <a:ext cx="393223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arge waterfall with a large body of water&#10;&#10;Description automatically generated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Subtitle 2"/>
          <p:cNvSpPr txBox="1"/>
          <p:nvPr/>
        </p:nvSpPr>
        <p:spPr>
          <a:xfrm>
            <a:off x="2919933" y="5060058"/>
            <a:ext cx="5766867" cy="815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Flows Here.</a:t>
            </a:r>
            <a:endParaRPr lang="en-US" sz="3600" dirty="0">
              <a:solidFill>
                <a:srgbClr val="0056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Blue text on a black background&#10;&#10;Description automatically generated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639431" y="2300444"/>
            <a:ext cx="7474360" cy="22571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/>
          <a:srcRect l="73317" b="29406"/>
          <a:stretch>
            <a:fillRect/>
          </a:stretch>
        </p:blipFill>
        <p:spPr>
          <a:xfrm>
            <a:off x="-713363" y="0"/>
            <a:ext cx="2372764" cy="17979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screen"/>
          <a:srcRect t="4352"/>
          <a:stretch>
            <a:fillRect/>
          </a:stretch>
        </p:blipFill>
        <p:spPr>
          <a:xfrm>
            <a:off x="639431" y="5060062"/>
            <a:ext cx="1019970" cy="18850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8200" y="485775"/>
            <a:ext cx="9144000" cy="950595"/>
          </a:xfrm>
        </p:spPr>
        <p:txBody>
          <a:bodyPr/>
          <a:lstStyle/>
          <a:p>
            <a:pPr algn="ctr"/>
            <a:r>
              <a:rPr sz="3600">
                <a:sym typeface="+mn-ea"/>
              </a:rPr>
              <a:t>Airbnb NYC 2019 – Advanced Cloud-Based Data Analytics</a:t>
            </a:r>
            <a:endParaRPr lang="en-CA" altLang="en-US" sz="36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38200" y="2067560"/>
            <a:ext cx="9144000" cy="3854450"/>
          </a:xfrm>
        </p:spPr>
        <p:txBody>
          <a:bodyPr/>
          <a:lstStyle/>
          <a:p>
            <a:pPr algn="ctr"/>
            <a:r>
              <a:rPr b="1">
                <a:sym typeface="+mn-ea"/>
              </a:rPr>
              <a:t>DAMO-630 – Advanced Data Analytics </a:t>
            </a:r>
            <a:endParaRPr b="1">
              <a:sym typeface="+mn-ea"/>
            </a:endParaRPr>
          </a:p>
          <a:p>
            <a:pPr algn="ctr"/>
            <a:endParaRPr b="1">
              <a:sym typeface="+mn-ea"/>
            </a:endParaRPr>
          </a:p>
          <a:p>
            <a:pPr algn="ctr"/>
            <a:r>
              <a:rPr lang="en-US" altLang="en-US" b="1" dirty="0"/>
              <a:t>Presented by: </a:t>
            </a:r>
            <a:r>
              <a:rPr lang="en-CA" altLang="en-US" b="1" dirty="0"/>
              <a:t>Krishna Patel</a:t>
            </a:r>
            <a:r>
              <a:rPr lang="en-US" altLang="en-US" b="1" dirty="0"/>
              <a:t>, </a:t>
            </a:r>
            <a:endParaRPr lang="en-US" altLang="en-US" b="1" dirty="0"/>
          </a:p>
          <a:p>
            <a:pPr algn="ctr"/>
            <a:r>
              <a:rPr lang="en-CA" altLang="en-US" b="1" dirty="0"/>
              <a:t>                      </a:t>
            </a:r>
            <a:r>
              <a:rPr lang="en-US" altLang="en-US" b="1" dirty="0"/>
              <a:t>Vrund Patel, </a:t>
            </a:r>
            <a:endParaRPr lang="en-US" altLang="en-US" b="1" dirty="0"/>
          </a:p>
          <a:p>
            <a:pPr algn="ctr"/>
            <a:r>
              <a:rPr lang="en-CA" altLang="en-US" b="1" dirty="0"/>
              <a:t>                        </a:t>
            </a:r>
            <a:r>
              <a:rPr lang="en-US" altLang="en-US" b="1" dirty="0"/>
              <a:t>Poojan Patel</a:t>
            </a:r>
            <a:r>
              <a:rPr lang="en-CA" altLang="en-US" b="1" dirty="0"/>
              <a:t>,</a:t>
            </a:r>
            <a:endParaRPr lang="en-US" altLang="en-US" b="1" dirty="0"/>
          </a:p>
          <a:p>
            <a:pPr algn="ctr"/>
            <a:r>
              <a:rPr lang="en-US" altLang="en-US" b="1" dirty="0"/>
              <a:t> </a:t>
            </a:r>
            <a:r>
              <a:rPr lang="en-CA" altLang="en-US" b="1" dirty="0"/>
              <a:t>                       Dhruv Trivedi</a:t>
            </a:r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Instrctor: Ali El-Sharif</a:t>
            </a:r>
            <a:endParaRPr lang="en-US" altLang="en-US" b="1" dirty="0"/>
          </a:p>
          <a:p>
            <a:pPr algn="ctr"/>
            <a:endParaRPr lang="en-US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802005"/>
            <a:ext cx="9156700" cy="809625"/>
          </a:xfrm>
        </p:spPr>
        <p:txBody>
          <a:bodyPr/>
          <a:lstStyle/>
          <a:p>
            <a:r>
              <a:rPr>
                <a:sym typeface="+mn-ea"/>
              </a:rPr>
              <a:t>Motivation &amp; Objective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NYC is one of Airbnb’s largest and most competitive markets with thousands of listings.</a:t>
            </a:r>
            <a:endParaRPr sz="2000">
              <a:sym typeface="+mn-ea"/>
            </a:endParaRPr>
          </a:p>
          <a:p>
            <a:pPr algn="just">
              <a:buFont typeface="Arial" panose="020B0604020202020204" pitchFamily="34" charset="0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Hosts face challenges in pricing, positioning, and standing out among similar listings.</a:t>
            </a:r>
            <a:endParaRPr sz="2000">
              <a:sym typeface="+mn-ea"/>
            </a:endParaRPr>
          </a:p>
          <a:p>
            <a:pPr algn="just">
              <a:buFont typeface="Arial" panose="020B0604020202020204" pitchFamily="34" charset="0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The platform needs better market intelligence and personalised recommendations.</a:t>
            </a:r>
            <a:endParaRPr sz="2000">
              <a:sym typeface="+mn-ea"/>
            </a:endParaRPr>
          </a:p>
          <a:p>
            <a:pPr algn="just">
              <a:buFont typeface="Arial" panose="020B0604020202020204" pitchFamily="34" charset="0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Objective: Build a cloud-based analytics pipeline to understand price &amp; demand and support better listing recommendations.</a:t>
            </a:r>
            <a:endParaRPr sz="2000">
              <a:sym typeface="+mn-ea"/>
            </a:endParaRPr>
          </a:p>
          <a:p>
            <a:pPr algn="just">
              <a:buFont typeface="Arial" panose="020B0604020202020204" pitchFamily="34" charset="0"/>
            </a:pPr>
            <a:endParaRPr lang="en-US" altLang="en-US" sz="2000" dirty="0"/>
          </a:p>
          <a:p>
            <a:pPr algn="just">
              <a:buFont typeface="Arial" panose="020B0604020202020204" pitchFamily="34" charset="0"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782955"/>
            <a:ext cx="9156700" cy="923925"/>
          </a:xfrm>
        </p:spPr>
        <p:txBody>
          <a:bodyPr/>
          <a:lstStyle/>
          <a:p>
            <a:r>
              <a:rPr>
                <a:sym typeface="+mn-ea"/>
              </a:rPr>
              <a:t>Research Questions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1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Market Understanding: </a:t>
            </a:r>
            <a:r>
              <a:rPr lang="en-CA" sz="2000">
                <a:sym typeface="+mn-ea"/>
              </a:rPr>
              <a:t>How do </a:t>
            </a:r>
            <a:r>
              <a:rPr sz="2000">
                <a:sym typeface="+mn-ea"/>
              </a:rPr>
              <a:t>price, availability, and review activity across neighbourhoods and room types</a:t>
            </a:r>
            <a:r>
              <a:rPr lang="en-CA" sz="2000">
                <a:sym typeface="+mn-ea"/>
              </a:rPr>
              <a:t>?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Scenario Exploration: can synthetic data mimic real patterns for safe “what-if” analysis?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Personalisation: given a guest’s budget and preferences, which listings are most suitable?</a:t>
            </a:r>
            <a:endParaRPr lang="en-US" altLang="en-US" sz="1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782955"/>
            <a:ext cx="9156700" cy="1203325"/>
          </a:xfrm>
        </p:spPr>
        <p:txBody>
          <a:bodyPr/>
          <a:lstStyle/>
          <a:p>
            <a:r>
              <a:rPr sz="4200">
                <a:sym typeface="+mn-ea"/>
              </a:rPr>
              <a:t>Dataset &amp; Cloud Setup</a:t>
            </a:r>
            <a:endParaRPr lang="en-US" alt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6880"/>
            <a:ext cx="9156700" cy="505523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Dataset: Airbnb New York City 2019 listings (one row per listing).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Key variables: location, room_type, price, minimum_nights, availability_365, reviews, host characteristics.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Cloud platform: Databricks Community Edition with PySpark and Python 3.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CSV uploaded to DBFS, registered as Spark table, analysed in Databricks notebooks.</a:t>
            </a:r>
            <a:endParaRPr lang="en-US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848360"/>
            <a:ext cx="9156700" cy="767715"/>
          </a:xfrm>
        </p:spPr>
        <p:txBody>
          <a:bodyPr/>
          <a:lstStyle/>
          <a:p>
            <a:r>
              <a:rPr sz="4000">
                <a:sym typeface="+mn-ea"/>
              </a:rPr>
              <a:t>Data Cleaning &amp; Feature Engineering</a:t>
            </a:r>
            <a:endParaRPr lang="en-US" altLang="en-US" sz="4000" dirty="0">
              <a:sym typeface="+mn-ea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1914525"/>
            <a:ext cx="9156700" cy="4782820"/>
          </a:xfrm>
        </p:spPr>
        <p:txBody>
          <a:bodyPr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Validated schema and converted price, reviews, availability to numeric types.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Handled missing reviews_per_month / last_review as “no reviews yet”.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Removed extreme outliers in price and minimum_nights.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Created features:</a:t>
            </a:r>
            <a:endParaRPr lang="en-US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710"/>
              <a:t>Price per minimum stay</a:t>
            </a:r>
            <a:endParaRPr lang="en-US" altLang="en-US" sz="171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710"/>
              <a:t>Review intensity (reviews_per_month)</a:t>
            </a:r>
            <a:endParaRPr lang="en-US" altLang="en-US" sz="171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710"/>
              <a:t>Host scale (single vs multi-listing hosts)</a:t>
            </a:r>
            <a:endParaRPr lang="en-US" altLang="en-US" sz="171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1710"/>
              <a:t>Neighbourhood and room type indicators.</a:t>
            </a:r>
            <a:endParaRPr lang="en-US" altLang="en-US" sz="171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367030"/>
            <a:ext cx="9156700" cy="1282065"/>
          </a:xfrm>
        </p:spPr>
        <p:txBody>
          <a:bodyPr/>
          <a:lstStyle/>
          <a:p>
            <a:r>
              <a:rPr>
                <a:sym typeface="+mn-ea"/>
              </a:rPr>
              <a:t>Module 1 – Mining Large-Scale Dataset</a:t>
            </a:r>
            <a:r>
              <a:rPr lang="en-CA">
                <a:sym typeface="+mn-ea"/>
              </a:rPr>
              <a:t>s</a:t>
            </a:r>
            <a:endParaRPr lang="en-CA" dirty="0">
              <a:sym typeface="+mn-ea"/>
            </a:endParaRPr>
          </a:p>
        </p:txBody>
      </p:sp>
      <p:sp>
        <p:nvSpPr>
          <p:cNvPr id="5" name="Content Placeholder 4"/>
          <p:cNvSpPr/>
          <p:nvPr>
            <p:ph idx="1"/>
          </p:nvPr>
        </p:nvSpPr>
        <p:spPr>
          <a:xfrm>
            <a:off x="838200" y="1649730"/>
            <a:ext cx="9156700" cy="4788535"/>
          </a:xfrm>
        </p:spPr>
        <p:txBody>
          <a:bodyPr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Used PySpark DataFrames for all transformations and aggregations.</a:t>
            </a: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groupBy + aggregations to compute summary statistics by neighbourhood_group and room_type.</a:t>
            </a: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Spark SQL views enabled interactive queries and visualisations in Databricks.</a:t>
            </a: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Saved cleaned tables as Parquet for efficient reuse and scalability.</a:t>
            </a:r>
            <a:endParaRPr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888365"/>
            <a:ext cx="9156700" cy="703580"/>
          </a:xfrm>
        </p:spPr>
        <p:txBody>
          <a:bodyPr/>
          <a:lstStyle/>
          <a:p>
            <a:r>
              <a:rPr lang="en-US" altLang="en-US" sz="3900" dirty="0"/>
              <a:t>Market Insights: Price &amp; Location</a:t>
            </a:r>
            <a:endParaRPr lang="en-US" altLang="en-US" sz="3900" dirty="0"/>
          </a:p>
        </p:txBody>
      </p:sp>
      <p:pic>
        <p:nvPicPr>
          <p:cNvPr id="4" name="Image 2"/>
          <p:cNvPicPr>
            <a:picLocks noChangeAspect="1"/>
          </p:cNvPicPr>
          <p:nvPr>
            <p:ph idx="1"/>
          </p:nvPr>
        </p:nvPicPr>
        <p:blipFill>
          <a:blip r:embed="rId1" cstate="print"/>
          <a:srcRect t="2751" r="4734"/>
          <a:stretch>
            <a:fillRect/>
          </a:stretch>
        </p:blipFill>
        <p:spPr>
          <a:xfrm>
            <a:off x="821055" y="2092325"/>
            <a:ext cx="4271645" cy="3409315"/>
          </a:xfrm>
          <a:prstGeom prst="rect">
            <a:avLst/>
          </a:prstGeom>
        </p:spPr>
      </p:pic>
      <p:pic>
        <p:nvPicPr>
          <p:cNvPr id="5" name="Image 3"/>
          <p:cNvPicPr/>
          <p:nvPr/>
        </p:nvPicPr>
        <p:blipFill>
          <a:blip r:embed="rId2" cstate="print"/>
          <a:srcRect t="2815"/>
          <a:stretch>
            <a:fillRect/>
          </a:stretch>
        </p:blipFill>
        <p:spPr>
          <a:xfrm>
            <a:off x="5291455" y="2092325"/>
            <a:ext cx="4869815" cy="340931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3265" y="5661660"/>
            <a:ext cx="4064000" cy="635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accent1">
                    <a:lumMod val="75000"/>
                  </a:schemeClr>
                </a:solidFill>
              </a:rPr>
              <a:t>Manhattan highest; Brooklyn next; Queens/Bronx/Staten Island cheape</a:t>
            </a:r>
            <a:endParaRPr lang="en-US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430520" y="5661025"/>
            <a:ext cx="4700270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accent1">
                    <a:lumMod val="75000"/>
                  </a:schemeClr>
                </a:solidFill>
              </a:rPr>
              <a:t>Entire home/apt ≫ private room ≫ shared room.</a:t>
            </a:r>
            <a:endParaRPr lang="en-US" altLang="en-US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879475"/>
            <a:ext cx="9156700" cy="683260"/>
          </a:xfrm>
        </p:spPr>
        <p:txBody>
          <a:bodyPr/>
          <a:lstStyle/>
          <a:p>
            <a:r>
              <a:rPr lang="en-US" altLang="en-US" dirty="0"/>
              <a:t>Demand &amp; Revenue Patterns</a:t>
            </a:r>
            <a:endParaRPr lang="en-US" altLang="en-US" dirty="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1562735"/>
            <a:ext cx="9156700" cy="4614545"/>
          </a:xfrm>
        </p:spPr>
        <p:txBody>
          <a:bodyPr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  <p:pic>
        <p:nvPicPr>
          <p:cNvPr id="6" name="Image 6"/>
          <p:cNvPicPr/>
          <p:nvPr/>
        </p:nvPicPr>
        <p:blipFill>
          <a:blip r:embed="rId1" cstate="print"/>
          <a:srcRect t="2285" r="2675" b="2965"/>
          <a:stretch>
            <a:fillRect/>
          </a:stretch>
        </p:blipFill>
        <p:spPr>
          <a:xfrm>
            <a:off x="717550" y="2266315"/>
            <a:ext cx="4827905" cy="329819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16915" y="5633085"/>
            <a:ext cx="444754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accent1">
                    <a:lumMod val="75000"/>
                  </a:schemeClr>
                </a:solidFill>
              </a:rPr>
              <a:t>Lower–moderate prices attract more reviews → higher demand.</a:t>
            </a:r>
            <a:endParaRPr lang="en-US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17210" y="5633085"/>
            <a:ext cx="468757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chemeClr val="accent1">
                    <a:lumMod val="75000"/>
                  </a:schemeClr>
                </a:solidFill>
              </a:rPr>
              <a:t>Manhattan &amp; Brooklyn generate highest estimated annual revenue per listing.</a:t>
            </a:r>
            <a:endParaRPr lang="en-US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Image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6575" y="2266315"/>
            <a:ext cx="4884420" cy="3298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840740"/>
            <a:ext cx="9156700" cy="635000"/>
          </a:xfrm>
        </p:spPr>
        <p:txBody>
          <a:bodyPr/>
          <a:lstStyle/>
          <a:p>
            <a:r>
              <a:rPr lang="en-US" altLang="en-US" sz="4000" dirty="0"/>
              <a:t>Module 2: Synthetic Data Generation</a:t>
            </a:r>
            <a:endParaRPr lang="en-US" altLang="en-US" sz="4000" dirty="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2064385"/>
            <a:ext cx="9156700" cy="4112895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/>
              <a:t>Selected key features:</a:t>
            </a:r>
            <a:endParaRPr lang="en-US" altLang="en-US" sz="20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1710"/>
              <a:t>price, minimum_nights, availability_365, number_of_reviews,</a:t>
            </a:r>
            <a:endParaRPr lang="en-US" altLang="en-US" sz="171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1710"/>
              <a:t>neighbourhood_group, room_type.</a:t>
            </a:r>
            <a:endParaRPr lang="en-US" altLang="en-US" sz="171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/>
              <a:t>Trained a tabular generative model (copula / GAN-style) on cleaned data.</a:t>
            </a:r>
            <a:endParaRPr lang="en-US" altLang="en-US" sz="20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/>
              <a:t>Generated a synthetic dataset similar in size to real data.</a:t>
            </a:r>
            <a:endParaRPr lang="en-US" altLang="en-US" sz="20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/>
              <a:t>Compared distributions, correlations, and category frequencies (real vs synthetic).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878840"/>
            <a:ext cx="9156700" cy="596900"/>
          </a:xfrm>
        </p:spPr>
        <p:txBody>
          <a:bodyPr/>
          <a:lstStyle/>
          <a:p>
            <a:r>
              <a:rPr lang="en-US" altLang="en-US" dirty="0"/>
              <a:t>Real vs Synthetic Distributions</a:t>
            </a:r>
            <a:endParaRPr lang="en-US" altLang="en-US" dirty="0"/>
          </a:p>
        </p:txBody>
      </p:sp>
      <p:pic>
        <p:nvPicPr>
          <p:cNvPr id="10" name="Image 10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6096000" y="2016125"/>
            <a:ext cx="4472940" cy="31927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48995" y="2016125"/>
            <a:ext cx="5386705" cy="3192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Price distribution in synthetic data closely matches real data</a:t>
            </a:r>
            <a:endParaRPr lang="en-US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/>
              <a:t>Same right-skew from high-priced Manhattan listings.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Correlations (e.g., price vs neighbourhood_group, reviews vs availability) preserved.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Synthetic data is suitable for what-if experiments and privacy-preserving sharing.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50" y="926465"/>
            <a:ext cx="9156700" cy="1108710"/>
          </a:xfrm>
        </p:spPr>
        <p:txBody>
          <a:bodyPr/>
          <a:lstStyle/>
          <a:p>
            <a:r>
              <a:rPr lang="en-US" altLang="en-US" sz="4000" dirty="0"/>
              <a:t>Module 3: Recommendation System</a:t>
            </a:r>
            <a:endParaRPr lang="en-US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0" y="1739900"/>
            <a:ext cx="9944735" cy="511746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Two mini examples:</a:t>
            </a:r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Budget traveller (~$100/night, Brooklyn private room):</a:t>
            </a:r>
            <a:endParaRPr lang="en-US" altLang="en-US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1710" dirty="0"/>
              <a:t>Recommender shows active listings with mid-range prices + high reviews + good availability.</a:t>
            </a:r>
            <a:endParaRPr lang="en-US" altLang="en-US" sz="171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Luxury Manhattan guest (high budget, entire home/apt):</a:t>
            </a:r>
            <a:endParaRPr lang="en-US" altLang="en-US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1710" dirty="0"/>
              <a:t>Suggests central Manhattan listings with high prices, frequent reviews, limited availability.</a:t>
            </a:r>
            <a:endParaRPr lang="en-US" altLang="en-US" sz="171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Bottom line: Different guest segments receive transparent, data-driven shortlists instead of scrolling thousands of listings.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205" y="939165"/>
            <a:ext cx="9243695" cy="528955"/>
          </a:xfrm>
        </p:spPr>
        <p:txBody>
          <a:bodyPr/>
          <a:lstStyle/>
          <a:p>
            <a:r>
              <a:rPr lang="en-US" altLang="en-US"/>
              <a:t>Integrated Cloud Pipeline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7555"/>
            <a:ext cx="9156700" cy="483044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PySpark-based mining for scalable EDA and feature engineering.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Synthetic data model for privacy-preserving experimentation.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Recommendation engine that operationalises descriptive insights into personalised results.</a:t>
            </a: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sz="2000"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>
                <a:sym typeface="+mn-ea"/>
              </a:rPr>
              <a:t>All components run end-to-end on Databricks, ready to extend across cities and years.</a:t>
            </a:r>
            <a:endParaRPr lang="en-US" altLang="en-US" sz="171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7420"/>
            <a:ext cx="9156700" cy="568325"/>
          </a:xfrm>
        </p:spPr>
        <p:txBody>
          <a:bodyPr/>
          <a:lstStyle/>
          <a:p>
            <a:r>
              <a:rPr lang="en-US" altLang="en-US"/>
              <a:t>Limitations &amp; Future Work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2960"/>
            <a:ext cx="9156700" cy="456628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/>
              <a:t>Only NYC, 2019 → no post-COVID or temporal dynamics.</a:t>
            </a: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/>
              <a:t>Use proxy demand (reviews, availability), not true bookings.</a:t>
            </a: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/>
              <a:t>Recommender is simplified: content-based only, no user–item interaction history.</a:t>
            </a: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/>
              <a:t>Future:</a:t>
            </a:r>
            <a:endParaRPr lang="en-US" altLang="en-US" sz="20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1710"/>
              <a:t>Multi-city, multi-year data.</a:t>
            </a:r>
            <a:endParaRPr lang="en-US" altLang="en-US" sz="20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1710"/>
              <a:t>True booking/occupancy data.</a:t>
            </a:r>
            <a:endParaRPr lang="en-US" altLang="en-US" sz="20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1710"/>
              <a:t>Hybrid collaborative filtering with side info.</a:t>
            </a:r>
            <a:endParaRPr lang="en-US" altLang="en-US" sz="200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1710"/>
              <a:t>Formal privacy metrics for synthetic data.</a:t>
            </a:r>
            <a:endParaRPr lang="en-US" altLang="en-US" sz="171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4065"/>
            <a:ext cx="9156700" cy="597535"/>
          </a:xfrm>
        </p:spPr>
        <p:txBody>
          <a:bodyPr/>
          <a:p>
            <a:r>
              <a:rPr lang="en-US" altLang="en-US"/>
              <a:t>Business Recommendations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7555"/>
            <a:ext cx="9156700" cy="4149725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200"/>
              <a:t>Business Recommendations</a:t>
            </a:r>
            <a:endParaRPr lang="en-US" altLang="en-US" sz="2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200"/>
              <a:t>Provide pricing bands per neighbourhood &amp; room type to guide hosts.</a:t>
            </a:r>
            <a:endParaRPr lang="en-US" altLang="en-US" sz="2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200"/>
              <a:t>Surface value neighbourhoods (e.g., good reviews, lower prices) for budget travellers.</a:t>
            </a:r>
            <a:endParaRPr lang="en-US" altLang="en-US" sz="2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200"/>
              <a:t>Highlight quality signals (review frequency, availability, host scale) more clearly in UI.</a:t>
            </a:r>
            <a:endParaRPr lang="en-US" altLang="en-US" sz="2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200"/>
              <a:t>Maintain a synthetic data sandbox for safe experimentation and policy work.</a:t>
            </a:r>
            <a:endParaRPr lang="en-US" altLang="en-US" sz="2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altLang="en-US" sz="2200">
                <a:sym typeface="+mn-ea"/>
              </a:rPr>
              <a:t>An integrated cloud analytics pipeline can:</a:t>
            </a:r>
            <a:endParaRPr lang="en-US" altLang="en-US" sz="2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000">
                <a:sym typeface="+mn-ea"/>
              </a:rPr>
              <a:t>Explain pricing &amp; demand,</a:t>
            </a:r>
            <a:endParaRPr lang="en-US" altLang="en-US" sz="20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000">
                <a:sym typeface="+mn-ea"/>
              </a:rPr>
              <a:t>Generate realistic synthetic data,</a:t>
            </a:r>
            <a:endParaRPr lang="en-US" altLang="en-US" sz="20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000">
                <a:sym typeface="+mn-ea"/>
              </a:rPr>
              <a:t>Deliver personalised recommendations.</a:t>
            </a:r>
            <a:endParaRPr lang="en-US" altLang="en-US" sz="20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altLang="en-US" sz="2200">
                <a:sym typeface="+mn-ea"/>
              </a:rPr>
              <a:t>Approach is scalable and reusable for other cities and time periods.</a:t>
            </a:r>
            <a:endParaRPr lang="en-US" altLang="en-US" sz="2200"/>
          </a:p>
          <a:p>
            <a:endParaRPr lang="en-US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4235"/>
            <a:ext cx="9156700" cy="3397250"/>
          </a:xfrm>
        </p:spPr>
        <p:txBody>
          <a:bodyPr/>
          <a:lstStyle/>
          <a:p>
            <a:pPr algn="ctr"/>
            <a:endParaRPr lang="en-CA" altLang="en-US" sz="5500"/>
          </a:p>
          <a:p>
            <a:pPr algn="ctr"/>
            <a:r>
              <a:rPr lang="en-CA" altLang="en-US" sz="5500"/>
              <a:t>THANK YOU</a:t>
            </a:r>
            <a:endParaRPr lang="en-CA" altLang="en-US"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{0513A6C0-F57C-6240-9A89-F4E5EE3852F3}tf16401378</Template>
  <TotalTime>0</TotalTime>
  <Words>4782</Words>
  <Application>WPS Presentation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Microsoft YaHei</vt:lpstr>
      <vt:lpstr>Arial Unicode MS</vt:lpstr>
      <vt:lpstr>Calibri</vt:lpstr>
      <vt:lpstr>Aptos</vt:lpstr>
      <vt:lpstr>Segoe UI</vt:lpstr>
      <vt:lpstr>Times New Roman</vt:lpstr>
      <vt:lpstr>Office Theme</vt:lpstr>
      <vt:lpstr>1_Office Theme</vt:lpstr>
      <vt:lpstr>PowerPoint 演示文稿</vt:lpstr>
      <vt:lpstr>Airbnb NYC Data Analytics Case Study</vt:lpstr>
      <vt:lpstr>Statement of Purpose</vt:lpstr>
      <vt:lpstr>Scope of the Project</vt:lpstr>
      <vt:lpstr>Research Questions&amp; Hypotheses</vt:lpstr>
      <vt:lpstr>Data Collection &amp; Cleaning</vt:lpstr>
      <vt:lpstr>Pricing Insights</vt:lpstr>
      <vt:lpstr>Geographic Distribution &amp; Clustering</vt:lpstr>
      <vt:lpstr>Customer Behavior Proxies</vt:lpstr>
      <vt:lpstr>Host Behavior &amp; Strategy </vt:lpstr>
      <vt:lpstr>Predictive Modeling</vt:lpstr>
      <vt:lpstr>Cluster Analysis</vt:lpstr>
      <vt:lpstr>Strategic Recommendations</vt:lpstr>
      <vt:lpstr>                  Conclusion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</dc:title>
  <dc:creator>Poojan Patel</dc:creator>
  <cp:lastModifiedBy>google1569168983</cp:lastModifiedBy>
  <cp:revision>43</cp:revision>
  <dcterms:created xsi:type="dcterms:W3CDTF">2024-01-12T20:35:00Z</dcterms:created>
  <dcterms:modified xsi:type="dcterms:W3CDTF">2025-12-11T01:18:21Z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D05915B5FBDA47B89E6942FFAFD440F8_13</vt:lpwstr>
  </property>
  <property fmtid="{D5CDD505-2E9C-101B-9397-08002B2CF9AE}" pid="3" name="KSOProductBuildVer">
    <vt:lpwstr>1033-12.2.0.23149</vt:lpwstr>
  </property>
</Properties>
</file>